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914400" y="1828800"/>
            <a:ext cx="10058400" cy="1828800"/>
          </a:xfrm>
          <a:prstGeom prst="rect">
            <a:avLst/>
          </a:prstGeom>
          <a:noFill/>
        </p:spPr>
        <p:txBody>
          <a:bodyPr wrap="none">
            <a:spAutoFit/>
          </a:bodyPr>
          <a:lstStyle/>
          <a:p>
            <a:pPr algn="ctr">
              <a:defRPr sz="3600" b="1">
                <a:solidFill>
                  <a:srgbClr val="A7C8FF"/>
                </a:solidFill>
              </a:defRPr>
            </a:pPr>
            <a:r>
              <a:t>MRPL Create A Presentation On Pressure Vessel Inspection Procedur</a:t>
            </a:r>
          </a:p>
          <a:p>
            <a:pPr algn="ctr">
              <a:defRPr sz="1600">
                <a:solidFill>
                  <a:srgbClr val="C3C6D1"/>
                </a:solidFill>
              </a:defRPr>
            </a:pPr>
            <a:r>
              <a:t>MRPL AI Workbench — Generated On-Premises</a:t>
            </a:r>
          </a:p>
          <a:p>
            <a:pPr algn="ctr">
              <a:defRPr sz="1200">
                <a:solidFill>
                  <a:srgbClr val="38DEBB"/>
                </a:solidFill>
              </a:defRPr>
            </a:pPr>
            <a:r>
              <a:t>CONFIDENTIAL — Zero External API Calls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none">
            <a:spAutoFit/>
          </a:bodyPr>
          <a:lstStyle/>
          <a:p>
            <a:pPr>
              <a:defRPr sz="2800" b="1">
                <a:solidFill>
                  <a:srgbClr val="A7C8FF"/>
                </a:solidFill>
              </a:defRPr>
            </a:pPr>
            <a:r>
              <a:t>Pressure Vessel Inspection Procedures Presentation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none">
            <a:spAutoFit/>
          </a:bodyPr>
          <a:lstStyle/>
          <a:p>
            <a:pPr>
              <a:defRPr sz="2800" b="1">
                <a:solidFill>
                  <a:srgbClr val="A7C8FF"/>
                </a:solidFill>
              </a:defRPr>
            </a:pPr>
            <a:r>
              <a:t>Introduction</a:t>
            </a:r>
          </a:p>
        </p:txBody>
      </p:sp>
      <p:sp>
        <p:nvSpPr>
          <p:cNvPr id="3" name="TextBox 2"/>
          <p:cNvSpPr txBox="1"/>
          <p:nvPr/>
        </p:nvSpPr>
        <p:spPr>
          <a:xfrm>
            <a:off x="731520" y="1645920"/>
            <a:ext cx="10515600" cy="4572000"/>
          </a:xfrm>
          <a:prstGeom prst="rect">
            <a:avLst/>
          </a:prstGeom>
          <a:noFill/>
        </p:spPr>
        <p:txBody>
          <a:bodyPr wrap="square">
            <a:spAutoFit/>
          </a:bodyPr>
          <a:lstStyle/>
          <a:p>
            <a:pPr>
              <a:spcAft>
                <a:spcPts val="800"/>
              </a:spcAft>
              <a:defRPr sz="1600">
                <a:solidFill>
                  <a:srgbClr val="D6E3FF"/>
                </a:solidFill>
              </a:defRPr>
            </a:pPr>
            <a:r>
              <a:t>▸ Pressure vessels are critical components in various industries, including petroleum, petrochemical, and chemical processing. To ensure their integrity and safety, regular inspections and testing are essential. This presentation outlines the inspection procedures for pressure vessels as mandated by industry standards and regulations.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none">
            <a:spAutoFit/>
          </a:bodyPr>
          <a:lstStyle/>
          <a:p>
            <a:pPr>
              <a:defRPr sz="2800" b="1">
                <a:solidFill>
                  <a:srgbClr val="A7C8FF"/>
                </a:solidFill>
              </a:defRPr>
            </a:pPr>
            <a:r>
              <a:t>External Inspections</a:t>
            </a:r>
          </a:p>
        </p:txBody>
      </p:sp>
      <p:sp>
        <p:nvSpPr>
          <p:cNvPr id="3" name="TextBox 2"/>
          <p:cNvSpPr txBox="1"/>
          <p:nvPr/>
        </p:nvSpPr>
        <p:spPr>
          <a:xfrm>
            <a:off x="731520" y="1645920"/>
            <a:ext cx="10515600" cy="4572000"/>
          </a:xfrm>
          <a:prstGeom prst="rect">
            <a:avLst/>
          </a:prstGeom>
          <a:noFill/>
        </p:spPr>
        <p:txBody>
          <a:bodyPr wrap="square">
            <a:spAutoFit/>
          </a:bodyPr>
          <a:lstStyle/>
          <a:p>
            <a:pPr>
              <a:spcAft>
                <a:spcPts val="800"/>
              </a:spcAft>
              <a:defRPr sz="1600">
                <a:solidFill>
                  <a:srgbClr val="D6E3FF"/>
                </a:solidFill>
              </a:defRPr>
            </a:pPr>
            <a:r>
              <a:t>▸ Frequency:** Every 5 years</a:t>
            </a:r>
          </a:p>
          <a:p>
            <a:pPr>
              <a:spcAft>
                <a:spcPts val="800"/>
              </a:spcAft>
              <a:defRPr sz="1600">
                <a:solidFill>
                  <a:srgbClr val="D6E3FF"/>
                </a:solidFill>
              </a:defRPr>
            </a:pPr>
            <a:r>
              <a:t>▸ Purpose:** To check for insulation damage, structural support corrosion, paint deterioration, and nozzle leaks.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none">
            <a:spAutoFit/>
          </a:bodyPr>
          <a:lstStyle/>
          <a:p>
            <a:pPr>
              <a:defRPr sz="2800" b="1">
                <a:solidFill>
                  <a:srgbClr val="A7C8FF"/>
                </a:solidFill>
              </a:defRPr>
            </a:pPr>
            <a:r>
              <a:t>Internal Inspections</a:t>
            </a:r>
          </a:p>
        </p:txBody>
      </p:sp>
      <p:sp>
        <p:nvSpPr>
          <p:cNvPr id="3" name="TextBox 2"/>
          <p:cNvSpPr txBox="1"/>
          <p:nvPr/>
        </p:nvSpPr>
        <p:spPr>
          <a:xfrm>
            <a:off x="731520" y="1645920"/>
            <a:ext cx="10515600" cy="4572000"/>
          </a:xfrm>
          <a:prstGeom prst="rect">
            <a:avLst/>
          </a:prstGeom>
          <a:noFill/>
        </p:spPr>
        <p:txBody>
          <a:bodyPr wrap="square">
            <a:spAutoFit/>
          </a:bodyPr>
          <a:lstStyle/>
          <a:p>
            <a:pPr>
              <a:spcAft>
                <a:spcPts val="800"/>
              </a:spcAft>
              <a:defRPr sz="1600">
                <a:solidFill>
                  <a:srgbClr val="D6E3FF"/>
                </a:solidFill>
              </a:defRPr>
            </a:pPr>
            <a:r>
              <a:t>▸ Frequency:** Every 5 years or every 10 years (half-life of the vessel)</a:t>
            </a:r>
          </a:p>
          <a:p>
            <a:pPr>
              <a:spcAft>
                <a:spcPts val="800"/>
              </a:spcAft>
              <a:defRPr sz="1600">
                <a:solidFill>
                  <a:srgbClr val="D6E3FF"/>
                </a:solidFill>
              </a:defRPr>
            </a:pPr>
            <a:r>
              <a:t>▸ Purpose:** To inspect for internal corrosion, erosion, pitting, tray damage, and weld cracks.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none">
            <a:spAutoFit/>
          </a:bodyPr>
          <a:lstStyle/>
          <a:p>
            <a:pPr>
              <a:defRPr sz="2800" b="1">
                <a:solidFill>
                  <a:srgbClr val="A7C8FF"/>
                </a:solidFill>
              </a:defRPr>
            </a:pPr>
            <a:r>
              <a:t>Highly Corrosive Service Vessels</a:t>
            </a:r>
          </a:p>
        </p:txBody>
      </p:sp>
      <p:sp>
        <p:nvSpPr>
          <p:cNvPr id="3" name="TextBox 2"/>
          <p:cNvSpPr txBox="1"/>
          <p:nvPr/>
        </p:nvSpPr>
        <p:spPr>
          <a:xfrm>
            <a:off x="731520" y="1645920"/>
            <a:ext cx="10515600" cy="4572000"/>
          </a:xfrm>
          <a:prstGeom prst="rect">
            <a:avLst/>
          </a:prstGeom>
          <a:noFill/>
        </p:spPr>
        <p:txBody>
          <a:bodyPr wrap="square">
            <a:spAutoFit/>
          </a:bodyPr>
          <a:lstStyle/>
          <a:p>
            <a:pPr>
              <a:spcAft>
                <a:spcPts val="800"/>
              </a:spcAft>
              <a:defRPr sz="1600">
                <a:solidFill>
                  <a:srgbClr val="D6E3FF"/>
                </a:solidFill>
              </a:defRPr>
            </a:pPr>
            <a:r>
              <a:t>▸ Internal Inspection Frequency:** Every 2 years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none">
            <a:spAutoFit/>
          </a:bodyPr>
          <a:lstStyle/>
          <a:p>
            <a:pPr>
              <a:defRPr sz="2800" b="1">
                <a:solidFill>
                  <a:srgbClr val="A7C8FF"/>
                </a:solidFill>
              </a:defRPr>
            </a:pPr>
            <a:r>
              <a:t>Hydrostatic Pressure Testing</a:t>
            </a:r>
          </a:p>
        </p:txBody>
      </p:sp>
      <p:sp>
        <p:nvSpPr>
          <p:cNvPr id="3" name="TextBox 2"/>
          <p:cNvSpPr txBox="1"/>
          <p:nvPr/>
        </p:nvSpPr>
        <p:spPr>
          <a:xfrm>
            <a:off x="731520" y="1645920"/>
            <a:ext cx="10515600" cy="4572000"/>
          </a:xfrm>
          <a:prstGeom prst="rect">
            <a:avLst/>
          </a:prstGeom>
          <a:noFill/>
        </p:spPr>
        <p:txBody>
          <a:bodyPr wrap="square">
            <a:spAutoFit/>
          </a:bodyPr>
          <a:lstStyle/>
          <a:p>
            <a:pPr>
              <a:spcAft>
                <a:spcPts val="800"/>
              </a:spcAft>
              <a:defRPr sz="1600">
                <a:solidFill>
                  <a:srgbClr val="D6E3FF"/>
                </a:solidFill>
              </a:defRPr>
            </a:pPr>
            <a:r>
              <a:t>▸ Mandatory:** Every 5 years</a:t>
            </a:r>
          </a:p>
          <a:p>
            <a:pPr>
              <a:spcAft>
                <a:spcPts val="800"/>
              </a:spcAft>
              <a:defRPr sz="1600">
                <a:solidFill>
                  <a:srgbClr val="D6E3FF"/>
                </a:solidFill>
              </a:defRPr>
            </a:pPr>
            <a:r>
              <a:t>▸ Pressure:** At 1.3 or 1.5 times the maximum allowable working pressure (MAWP)</a:t>
            </a:r>
          </a:p>
          <a:p>
            <a:pPr>
              <a:spcAft>
                <a:spcPts val="800"/>
              </a:spcAft>
              <a:defRPr sz="1600">
                <a:solidFill>
                  <a:srgbClr val="D6E3FF"/>
                </a:solidFill>
              </a:defRPr>
            </a:pPr>
            <a:r>
              <a:t>▸ Competent Person:** Must be a PESO (Pressure Equipment Safety Officer)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none">
            <a:spAutoFit/>
          </a:bodyPr>
          <a:lstStyle/>
          <a:p>
            <a:pPr>
              <a:defRPr sz="2800" b="1">
                <a:solidFill>
                  <a:srgbClr val="A7C8FF"/>
                </a:solidFill>
              </a:defRPr>
            </a:pPr>
            <a:r>
              <a:t>Non-Hydrostatic Testing Methods</a:t>
            </a:r>
          </a:p>
        </p:txBody>
      </p:sp>
      <p:sp>
        <p:nvSpPr>
          <p:cNvPr id="3" name="TextBox 2"/>
          <p:cNvSpPr txBox="1"/>
          <p:nvPr/>
        </p:nvSpPr>
        <p:spPr>
          <a:xfrm>
            <a:off x="731520" y="1645920"/>
            <a:ext cx="10515600" cy="4572000"/>
          </a:xfrm>
          <a:prstGeom prst="rect">
            <a:avLst/>
          </a:prstGeom>
          <a:noFill/>
        </p:spPr>
        <p:txBody>
          <a:bodyPr wrap="square">
            <a:spAutoFit/>
          </a:bodyPr>
          <a:lstStyle/>
          <a:p>
            <a:pPr>
              <a:spcAft>
                <a:spcPts val="800"/>
              </a:spcAft>
              <a:defRPr sz="1600">
                <a:solidFill>
                  <a:srgbClr val="D6E3FF"/>
                </a:solidFill>
              </a:defRPr>
            </a:pPr>
            <a:r>
              <a:t>▸ Approved Methods:** Acoustic Emission Testing (AET) or Ultrasonic Shear Wave Examination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none">
            <a:spAutoFit/>
          </a:bodyPr>
          <a:lstStyle/>
          <a:p>
            <a:pPr>
              <a:defRPr sz="2800" b="1">
                <a:solidFill>
                  <a:srgbClr val="A7C8FF"/>
                </a:solidFill>
              </a:defRPr>
            </a:pPr>
            <a:r>
              <a:t>Inspection Certificates and Operating License</a:t>
            </a:r>
          </a:p>
        </p:txBody>
      </p:sp>
      <p:sp>
        <p:nvSpPr>
          <p:cNvPr id="3" name="TextBox 2"/>
          <p:cNvSpPr txBox="1"/>
          <p:nvPr/>
        </p:nvSpPr>
        <p:spPr>
          <a:xfrm>
            <a:off x="731520" y="1645920"/>
            <a:ext cx="10515600" cy="4572000"/>
          </a:xfrm>
          <a:prstGeom prst="rect">
            <a:avLst/>
          </a:prstGeom>
          <a:noFill/>
        </p:spPr>
        <p:txBody>
          <a:bodyPr wrap="square">
            <a:spAutoFit/>
          </a:bodyPr>
          <a:lstStyle/>
          <a:p>
            <a:pPr>
              <a:spcAft>
                <a:spcPts val="800"/>
              </a:spcAft>
              <a:defRPr sz="1600">
                <a:solidFill>
                  <a:srgbClr val="D6E3FF"/>
                </a:solidFill>
              </a:defRPr>
            </a:pPr>
            <a:r>
              <a:t>▸ Submission:** Testing certificates must be submitted to PESO for license renewal.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none">
            <a:spAutoFit/>
          </a:bodyPr>
          <a:lstStyle/>
          <a:p>
            <a:pPr>
              <a:defRPr sz="2800" b="1">
                <a:solidFill>
                  <a:srgbClr val="A7C8FF"/>
                </a:solidFill>
              </a:defRPr>
            </a:pPr>
            <a:r>
              <a:t>API 510: International Pressure Vessel Inspection Code</a:t>
            </a:r>
          </a:p>
        </p:txBody>
      </p:sp>
      <p:sp>
        <p:nvSpPr>
          <p:cNvPr id="3" name="TextBox 2"/>
          <p:cNvSpPr txBox="1"/>
          <p:nvPr/>
        </p:nvSpPr>
        <p:spPr>
          <a:xfrm>
            <a:off x="731520" y="1645920"/>
            <a:ext cx="10515600" cy="4572000"/>
          </a:xfrm>
          <a:prstGeom prst="rect">
            <a:avLst/>
          </a:prstGeom>
          <a:noFill/>
        </p:spPr>
        <p:txBody>
          <a:bodyPr wrap="square">
            <a:spAutoFit/>
          </a:bodyPr>
          <a:lstStyle/>
          <a:p>
            <a:pPr>
              <a:spcAft>
                <a:spcPts val="800"/>
              </a:spcAft>
              <a:defRPr sz="1600">
                <a:solidFill>
                  <a:srgbClr val="D6E3FF"/>
                </a:solidFill>
              </a:defRPr>
            </a:pPr>
            <a:r>
              <a:t>▸ Scope:** In-service inspection, repair, alteration, and re-rating of pressure vessels</a:t>
            </a:r>
          </a:p>
          <a:p>
            <a:pPr>
              <a:spcAft>
                <a:spcPts val="800"/>
              </a:spcAft>
              <a:defRPr sz="1600">
                <a:solidFill>
                  <a:srgbClr val="D6E3FF"/>
                </a:solidFill>
              </a:defRPr>
            </a:pPr>
            <a:r>
              <a:t>▸ Applicability:** Vessels in the petroleum, petrochemical, and chemical processing industries</a:t>
            </a:r>
          </a:p>
          <a:p>
            <a:pPr>
              <a:spcAft>
                <a:spcPts val="800"/>
              </a:spcAft>
              <a:defRPr sz="1600">
                <a:solidFill>
                  <a:srgbClr val="D6E3FF"/>
                </a:solidFill>
              </a:defRPr>
            </a:pPr>
            <a:r>
              <a:t>▸ External Inspection Interval:** Every 5 years or at the same interval as the internal/on-stream inspection, whiche0ne is less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none">
            <a:spAutoFit/>
          </a:bodyPr>
          <a:lstStyle/>
          <a:p>
            <a:pPr>
              <a:defRPr sz="2800" b="1">
                <a:solidFill>
                  <a:srgbClr val="A7C8FF"/>
                </a:solidFill>
              </a:defRPr>
            </a:pPr>
            <a:r>
              <a:t>Conclusion</a:t>
            </a:r>
          </a:p>
        </p:txBody>
      </p:sp>
      <p:sp>
        <p:nvSpPr>
          <p:cNvPr id="3" name="TextBox 2"/>
          <p:cNvSpPr txBox="1"/>
          <p:nvPr/>
        </p:nvSpPr>
        <p:spPr>
          <a:xfrm>
            <a:off x="731520" y="1645920"/>
            <a:ext cx="10515600" cy="4572000"/>
          </a:xfrm>
          <a:prstGeom prst="rect">
            <a:avLst/>
          </a:prstGeom>
          <a:noFill/>
        </p:spPr>
        <p:txBody>
          <a:bodyPr wrap="square">
            <a:spAutoFit/>
          </a:bodyPr>
          <a:lstStyle/>
          <a:p>
            <a:pPr>
              <a:spcAft>
                <a:spcPts val="800"/>
              </a:spcAft>
              <a:defRPr sz="1600">
                <a:solidFill>
                  <a:srgbClr val="D6E3FF"/>
                </a:solidFill>
              </a:defRPr>
            </a:pPr>
            <a:r>
              <a:t>▸ Regular and thorough inspection procedures are vital for maintaining the safety and integrity of pressure vessels. Adhering to these guidelines ensures that vessels remain in compliance with industry standards and regulations, reducing the risk of catastrophic failures and ensuring the safety of personnel and the environment.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731520" y="457200"/>
            <a:ext cx="10515600" cy="914400"/>
          </a:xfrm>
          <a:prstGeom prst="rect">
            <a:avLst/>
          </a:prstGeom>
          <a:noFill/>
        </p:spPr>
        <p:txBody>
          <a:bodyPr wrap="none">
            <a:spAutoFit/>
          </a:bodyPr>
          <a:lstStyle/>
          <a:p>
            <a:pPr>
              <a:defRPr sz="2800" b="1">
                <a:solidFill>
                  <a:srgbClr val="A7C8FF"/>
                </a:solidFill>
              </a:defRPr>
            </a:pPr>
            <a:r>
              <a:t>References</a:t>
            </a:r>
          </a:p>
        </p:txBody>
      </p:sp>
      <p:sp>
        <p:nvSpPr>
          <p:cNvPr id="3" name="TextBox 2"/>
          <p:cNvSpPr txBox="1"/>
          <p:nvPr/>
        </p:nvSpPr>
        <p:spPr>
          <a:xfrm>
            <a:off x="731520" y="1645920"/>
            <a:ext cx="10515600" cy="4572000"/>
          </a:xfrm>
          <a:prstGeom prst="rect">
            <a:avLst/>
          </a:prstGeom>
          <a:noFill/>
        </p:spPr>
        <p:txBody>
          <a:bodyPr wrap="square">
            <a:spAutoFit/>
          </a:bodyPr>
          <a:lstStyle/>
          <a:p>
            <a:pPr>
              <a:spcAft>
                <a:spcPts val="800"/>
              </a:spcAft>
              <a:defRPr sz="1600">
                <a:solidFill>
                  <a:srgbClr val="D6E3FF"/>
                </a:solidFill>
              </a:defRPr>
            </a:pPr>
            <a:r>
              <a:t>▸ Rule 19: Hydrostatic Testing Requirements</a:t>
            </a:r>
          </a:p>
          <a:p>
            <a:pPr>
              <a:spcAft>
                <a:spcPts val="800"/>
              </a:spcAft>
              <a:defRPr sz="1600">
                <a:solidFill>
                  <a:srgbClr val="D6E3FF"/>
                </a:solidFill>
              </a:defRPr>
            </a:pPr>
            <a:r>
              <a:t>▸ API 510: International Pressure Vessel Inspection Code</a:t>
            </a:r>
          </a:p>
          <a:p>
            <a:pPr>
              <a:spcAft>
                <a:spcPts val="800"/>
              </a:spcAft>
              <a:defRPr sz="1600">
                <a:solidFill>
                  <a:srgbClr val="D6E3FF"/>
                </a:solidFill>
              </a:defRPr>
            </a:pPr>
            <a:r>
              <a:t>▸ Note: This presentation is based on the provided knowledge base context and is structured for clarity and ease of understanding. Additional details and industry regulations may be required for comprehensive training and compliance.</a:t>
            </a:r>
          </a:p>
          <a:p>
            <a:pPr>
              <a:spcAft>
                <a:spcPts val="800"/>
              </a:spcAft>
              <a:defRPr sz="1600">
                <a:solidFill>
                  <a:srgbClr val="D6E3FF"/>
                </a:solidFill>
              </a:defRPr>
            </a:pPr>
            <a:r>
              <a:t>▸ ```</a:t>
            </a:r>
          </a:p>
          <a:p>
            <a:pPr>
              <a:spcAft>
                <a:spcPts val="800"/>
              </a:spcAft>
              <a:defRPr sz="1600">
                <a:solidFill>
                  <a:srgbClr val="D6E3FF"/>
                </a:solidFill>
              </a:defRPr>
            </a:pPr>
            <a:r>
              <a:t>▸ This markdown-formatted presentation provides a structured overview of pressure vessel inspection procedures, incorporating information from the provided context. It is designed to be clear and informative for those seeking to understand the necessary steps for maintaining pressure vessel integrity.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